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78" r:id="rId12"/>
    <p:sldId id="274" r:id="rId13"/>
    <p:sldId id="269" r:id="rId14"/>
    <p:sldId id="277" r:id="rId15"/>
    <p:sldId id="275" r:id="rId16"/>
    <p:sldId id="279" r:id="rId17"/>
    <p:sldId id="280" r:id="rId18"/>
    <p:sldId id="266" r:id="rId19"/>
    <p:sldId id="273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 varScale="1">
        <p:scale>
          <a:sx n="87" d="100"/>
          <a:sy n="87" d="100"/>
        </p:scale>
        <p:origin x="8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EB3A5-4FC5-D09F-9965-21C4152A3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DE0DF6-8D8A-D601-1B49-1F2167783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C6B991-7527-7C99-4F34-7A74BADE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E9AC2-2C92-6670-C992-E981CBB4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413177-2607-0C4A-588A-5099C615A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72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700DB-B5B5-A626-97CD-77F9084B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D6B66-8237-3720-5CE0-8A22A3A2B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4AF888-BAF6-9B08-4DB9-6A4F8121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C9C941-6827-30EB-AC77-671A9C1B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8A030B-E607-A2C0-EDFD-333A7FC9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845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F26576-49D5-AB80-8C86-05B15F60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2E9DBC-A192-D29A-242A-082D72640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1D8900-4A72-8811-31F3-A9A43FCFA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AFBD00-75B5-4811-5718-46AF7728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6058CB-690E-B12D-36E8-CC3D0649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74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2CE6D-0528-DD2C-BCE0-E6E2404C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566757-0229-8A48-3A4E-2A85AA23B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2C17F6-B890-E7D7-E6B5-CFFB44F67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9827AD-6547-ADC4-66DE-A53612EB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5C8467-EDC7-E793-BA0A-E6F9D882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0F38A2-DA8B-2168-A75E-D0216FE7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68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D119D-9FC5-007E-663A-9B61F94C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FDF4C1-F6D8-D521-EB01-E2F919E5C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0626B9-A90C-8A6F-E428-E27EB923A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1448B6-F389-1F2D-08A4-D1BEA12DD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E0E345-ED4C-D81E-7297-6B0390F36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055C6C-B1B2-6676-2B59-B9DCBA6C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19EBD1-BDDD-DA8A-B685-1957D52E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390F9B-74E6-1505-C020-777DF43B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45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9F448-9B0B-CC86-8750-29E1AECC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8EE533-F7CA-054E-CF57-28FD8E17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4DFC5C-5F6F-E264-4732-BA5296CE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81C540-520D-3274-4ED1-F8E0DE59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66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7A49455-C2CC-E423-775F-DB8C81588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20BB38-9F4D-073B-22B7-9427066F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2F009C-FC9F-D8D0-FAE3-EE0D38C4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26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4E7C9-767F-4C1A-BD65-7903069D9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4CB89B-CC93-9E47-E037-8BF4F8D7D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974CAA-26D1-0377-DBBD-D92CB1A13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295FA6-C3DA-7515-6A17-DAD2918C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20EB96-0CD1-82CA-C995-46633FBA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E6A949-F91A-CC87-22F6-B5D4EC842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68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A52DD-CC4D-5435-863D-2161F30A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A047E2-71FB-BDF4-FC2B-2C631962E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33A872-258E-D542-FB41-51F278673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86BDBA-A77E-3425-7739-87FB2B02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4D1CFA-308F-AF13-9D0A-CD59040C6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267F2F-42F1-76D9-2D0E-212BED744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13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C50FE-0EBF-7894-5585-B89889FC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573E8D-A48A-BE7B-914F-FA36F8479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21A4D9-511D-16DA-2FA3-B6CADE8B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983A28-DDE4-80F6-222D-E343848DA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8694FB-DBAF-B330-3D70-C39F57C3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0415DD-048C-2C3B-0FA6-71F40EA99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AC1352-BAC1-D50E-4391-29B56FE4C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7369A7-F871-0B05-BED8-55C0ECC6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24600-2437-9A0C-65CE-37724A934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51B06C-9CEF-5A0A-3AB5-42BE35CC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12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ACB07B-F101-8E90-90AB-D7B4D4C6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BBD8A8-B238-1793-B18D-51F7696BF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F9803D-5478-80CC-B685-CDE1B6A74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781F2-646F-438A-839B-1922E67681C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C7F91-41F9-943A-1E29-B4BAE57E3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7F878D-5975-7728-8108-97D5802D2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58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EFFD2-4FC1-C293-EC32-6097FBCBF519}"/>
              </a:ext>
            </a:extLst>
          </p:cNvPr>
          <p:cNvSpPr txBox="1"/>
          <p:nvPr/>
        </p:nvSpPr>
        <p:spPr>
          <a:xfrm>
            <a:off x="962025" y="371475"/>
            <a:ext cx="102679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МИНОБРНАУКИ РОССИИ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высшего образования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«Гжельский государственный университет»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(ГГУ)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Колледж ГГУ</a:t>
            </a:r>
          </a:p>
          <a:p>
            <a:pPr algn="ctr"/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09.02.07 Информационные системы и программирование</a:t>
            </a:r>
          </a:p>
          <a:p>
            <a:pPr algn="ctr"/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 обучения - очная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EA3F0-371D-DE11-0F70-2EF60FA4132C}"/>
              </a:ext>
            </a:extLst>
          </p:cNvPr>
          <p:cNvSpPr txBox="1"/>
          <p:nvPr/>
        </p:nvSpPr>
        <p:spPr>
          <a:xfrm>
            <a:off x="601406" y="2543567"/>
            <a:ext cx="109891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Презентация по дипломному проекту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на тему: «Разработка информационной системы отдела 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продаж салонов сотовой связи»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F9E88-904F-55E0-FAAA-7A30A9504811}"/>
              </a:ext>
            </a:extLst>
          </p:cNvPr>
          <p:cNvSpPr txBox="1"/>
          <p:nvPr/>
        </p:nvSpPr>
        <p:spPr>
          <a:xfrm>
            <a:off x="4462461" y="6211669"/>
            <a:ext cx="3267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пос.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Электроизолятор 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2026 год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E3A78-6E88-1C25-CBFF-1992BF7FBAF4}"/>
              </a:ext>
            </a:extLst>
          </p:cNvPr>
          <p:cNvSpPr txBox="1"/>
          <p:nvPr/>
        </p:nvSpPr>
        <p:spPr>
          <a:xfrm>
            <a:off x="1517463" y="4263997"/>
            <a:ext cx="10182225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Выполнил: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Котельников Владислав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Вусалович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		            студент группы ИСП-О-22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    Руководитель: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Титов Андрей Дмитриевич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Преподаватель колледжа</a:t>
            </a:r>
          </a:p>
        </p:txBody>
      </p:sp>
    </p:spTree>
    <p:extLst>
      <p:ext uri="{BB962C8B-B14F-4D97-AF65-F5344CB8AC3E}">
        <p14:creationId xmlns:p14="http://schemas.microsoft.com/office/powerpoint/2010/main" val="372508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D83EB-CC76-68C1-33F5-B81E53E549E3}"/>
              </a:ext>
            </a:extLst>
          </p:cNvPr>
          <p:cNvSpPr txBox="1">
            <a:spLocks/>
          </p:cNvSpPr>
          <p:nvPr/>
        </p:nvSpPr>
        <p:spPr>
          <a:xfrm>
            <a:off x="838200" y="216403"/>
            <a:ext cx="10515600" cy="8122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17F98-C1AA-BD4E-E3AD-13F94B211267}"/>
              </a:ext>
            </a:extLst>
          </p:cNvPr>
          <p:cNvSpPr txBox="1"/>
          <p:nvPr/>
        </p:nvSpPr>
        <p:spPr>
          <a:xfrm>
            <a:off x="444499" y="1500336"/>
            <a:ext cx="11303001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условиях высокой конкуренции и требовательных клиентов, эффективное управление бизнес-процессами салона сотовой связи невозможно без внедрения информационных технологий. Ручной учет и бумажная документация не только неэффективны, но и подвержены ошибкам. 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Актуальность темы дипломной работы обусловлена необходимостью автоматизации и оптимизации ключевых операций отдела продаж, таких как управление клиентами, товарами, тарифами, продажами и контрактами. Создание специализированной информационной системы позволяет повысить точность, скорость обработки информации, улучшить качество обслуживания клиентов и обеспечить эффективный анализ данных, что в свою очередь становится важным конкурентным преимуществом для современного бизнеса.</a:t>
            </a:r>
          </a:p>
        </p:txBody>
      </p:sp>
    </p:spTree>
    <p:extLst>
      <p:ext uri="{BB962C8B-B14F-4D97-AF65-F5344CB8AC3E}">
        <p14:creationId xmlns:p14="http://schemas.microsoft.com/office/powerpoint/2010/main" val="264604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1D4BB-55AA-2EAB-8FF2-285A72C64CC9}"/>
              </a:ext>
            </a:extLst>
          </p:cNvPr>
          <p:cNvSpPr txBox="1">
            <a:spLocks/>
          </p:cNvSpPr>
          <p:nvPr/>
        </p:nvSpPr>
        <p:spPr>
          <a:xfrm>
            <a:off x="838199" y="134119"/>
            <a:ext cx="10515600" cy="8159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работы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208AC-D920-0F82-668F-7BAB7512E10E}"/>
              </a:ext>
            </a:extLst>
          </p:cNvPr>
          <p:cNvSpPr txBox="1"/>
          <p:nvPr/>
        </p:nvSpPr>
        <p:spPr>
          <a:xfrm>
            <a:off x="489283" y="1182231"/>
            <a:ext cx="1121343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Целью дипломного проекта является разработка информационной системы отдела продаж салонов сотовой связи. Система должна обеспечить эффективное управление данными клиентов, сотрудников, товаров, тарифов, продаж и контрактов, а также автоматизировать ключевые бизнес-процессы. </a:t>
            </a:r>
          </a:p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рамках проекта были проведены анализ предметной области и существующих решений, сформированы требования к системе, обоснован выбор средств реализации, спроектированы архитектура и база данных, разработаны модели и макеты интерфейса, выполнена программная реализация части функций и подготовлена документация. </a:t>
            </a:r>
          </a:p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Объектом исследования является деятельность отдела продаж салона сотовой связи.</a:t>
            </a:r>
          </a:p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Предметом — процесс проектирования и разработки специализированной информационной системы. </a:t>
            </a:r>
          </a:p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Практическая значимость заключается в создании программного продукта, который может быть использован для автоматизации и повышения эффективности работы отдела продаж.</a:t>
            </a:r>
          </a:p>
        </p:txBody>
      </p:sp>
    </p:spTree>
    <p:extLst>
      <p:ext uri="{BB962C8B-B14F-4D97-AF65-F5344CB8AC3E}">
        <p14:creationId xmlns:p14="http://schemas.microsoft.com/office/powerpoint/2010/main" val="299701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77447-D9CE-C348-FA5A-E57DDB09F36D}"/>
              </a:ext>
            </a:extLst>
          </p:cNvPr>
          <p:cNvSpPr txBox="1">
            <a:spLocks/>
          </p:cNvSpPr>
          <p:nvPr/>
        </p:nvSpPr>
        <p:spPr>
          <a:xfrm>
            <a:off x="838199" y="206376"/>
            <a:ext cx="10515600" cy="8445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Контекстная 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5FC6E8-3EC2-B494-3CFB-CB875DB27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767" y="853960"/>
            <a:ext cx="6424464" cy="558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4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3BFD17-B8B2-5F31-D8AE-DA5DACFA8DAF}"/>
              </a:ext>
            </a:extLst>
          </p:cNvPr>
          <p:cNvSpPr txBox="1">
            <a:spLocks/>
          </p:cNvSpPr>
          <p:nvPr/>
        </p:nvSpPr>
        <p:spPr>
          <a:xfrm>
            <a:off x="838199" y="184150"/>
            <a:ext cx="10515600" cy="10445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декомпозиции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ED46BD-23BB-AD5A-6E54-15CE12FB9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95" y="862965"/>
            <a:ext cx="9404610" cy="581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0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F24AC-86A3-DB80-A4FD-2144DA9B6C0A}"/>
              </a:ext>
            </a:extLst>
          </p:cNvPr>
          <p:cNvSpPr txBox="1">
            <a:spLocks/>
          </p:cNvSpPr>
          <p:nvPr/>
        </p:nvSpPr>
        <p:spPr>
          <a:xfrm>
            <a:off x="-2492141" y="2924376"/>
            <a:ext cx="10515600" cy="10350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DFD-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1E20E8-7387-56FE-7A0B-209D66011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158" y="154874"/>
            <a:ext cx="5719489" cy="657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3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2826D-F354-689D-87C5-D352EDB734D0}"/>
              </a:ext>
            </a:extLst>
          </p:cNvPr>
          <p:cNvSpPr txBox="1">
            <a:spLocks/>
          </p:cNvSpPr>
          <p:nvPr/>
        </p:nvSpPr>
        <p:spPr>
          <a:xfrm>
            <a:off x="760141" y="185062"/>
            <a:ext cx="10515600" cy="10731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2AA644-7A88-6E28-871E-400C7ACC9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867" y="827772"/>
            <a:ext cx="9054266" cy="586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6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6AA970-A30F-A2C4-BBF1-0B393498FB60}"/>
              </a:ext>
            </a:extLst>
          </p:cNvPr>
          <p:cNvSpPr txBox="1">
            <a:spLocks/>
          </p:cNvSpPr>
          <p:nvPr/>
        </p:nvSpPr>
        <p:spPr>
          <a:xfrm>
            <a:off x="838200" y="152786"/>
            <a:ext cx="10515600" cy="8826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663A6A-2F4F-49F4-58A5-97D3B2E35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613" y="836684"/>
            <a:ext cx="7208774" cy="58685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014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059FD-05BD-9B97-58E3-F9A1438A5B4B}"/>
              </a:ext>
            </a:extLst>
          </p:cNvPr>
          <p:cNvSpPr txBox="1">
            <a:spLocks/>
          </p:cNvSpPr>
          <p:nvPr/>
        </p:nvSpPr>
        <p:spPr>
          <a:xfrm>
            <a:off x="5480060" y="3079051"/>
            <a:ext cx="10515600" cy="9969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USE-CASE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699A97-7C0B-23A9-5488-3A7DFD4D6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67" y="166036"/>
            <a:ext cx="4096244" cy="652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1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BB232-6638-8552-D0B7-ECFBDBC0ECA8}"/>
              </a:ext>
            </a:extLst>
          </p:cNvPr>
          <p:cNvSpPr txBox="1">
            <a:spLocks/>
          </p:cNvSpPr>
          <p:nvPr/>
        </p:nvSpPr>
        <p:spPr>
          <a:xfrm>
            <a:off x="838200" y="79646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8BD4F-41BA-2D73-8FC8-B7D5FF56F074}"/>
              </a:ext>
            </a:extLst>
          </p:cNvPr>
          <p:cNvSpPr txBox="1"/>
          <p:nvPr/>
        </p:nvSpPr>
        <p:spPr>
          <a:xfrm>
            <a:off x="5002688" y="1995025"/>
            <a:ext cx="218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авторизации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BF6F40-E630-DBFB-080E-1531B4A71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999" y="2414385"/>
            <a:ext cx="3898001" cy="24554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043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BC7AA-97F6-FC35-B700-F4F241CF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2400305-35C0-E66A-F817-88DF407E4AB1}"/>
              </a:ext>
            </a:extLst>
          </p:cNvPr>
          <p:cNvSpPr txBox="1"/>
          <p:nvPr/>
        </p:nvSpPr>
        <p:spPr>
          <a:xfrm>
            <a:off x="4328048" y="1002700"/>
            <a:ext cx="3535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окно администратора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C63524DB-03A3-35DA-6F5C-844CD5C62BF7}"/>
              </a:ext>
            </a:extLst>
          </p:cNvPr>
          <p:cNvSpPr txBox="1">
            <a:spLocks/>
          </p:cNvSpPr>
          <p:nvPr/>
        </p:nvSpPr>
        <p:spPr>
          <a:xfrm>
            <a:off x="838200" y="-47812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208714-28A7-4BD4-487A-63ED3075A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20" y="1532572"/>
            <a:ext cx="7886760" cy="50414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546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0E901-AA4E-15D4-1940-A237FF42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58823-C28D-45C2-EC31-7D7396C85255}"/>
              </a:ext>
            </a:extLst>
          </p:cNvPr>
          <p:cNvSpPr txBox="1">
            <a:spLocks/>
          </p:cNvSpPr>
          <p:nvPr/>
        </p:nvSpPr>
        <p:spPr>
          <a:xfrm>
            <a:off x="838200" y="79646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34D0B-C2EC-8DB7-511D-F06D613AE708}"/>
              </a:ext>
            </a:extLst>
          </p:cNvPr>
          <p:cNvSpPr txBox="1"/>
          <p:nvPr/>
        </p:nvSpPr>
        <p:spPr>
          <a:xfrm>
            <a:off x="4163291" y="1169815"/>
            <a:ext cx="38654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менеджера (панель продаж)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E2ED0E-7A7D-546E-C6C6-D97F70BFB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58" y="1739344"/>
            <a:ext cx="7888284" cy="4779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1935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350C-B3AB-9610-CEF5-597C638E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8EDB52-63E0-62D4-699F-AF36685F1B9A}"/>
              </a:ext>
            </a:extLst>
          </p:cNvPr>
          <p:cNvSpPr txBox="1"/>
          <p:nvPr/>
        </p:nvSpPr>
        <p:spPr>
          <a:xfrm>
            <a:off x="4756018" y="1011964"/>
            <a:ext cx="2679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редактор данных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9569A608-922F-559D-ECE7-1517616A0277}"/>
              </a:ext>
            </a:extLst>
          </p:cNvPr>
          <p:cNvSpPr txBox="1">
            <a:spLocks/>
          </p:cNvSpPr>
          <p:nvPr/>
        </p:nvSpPr>
        <p:spPr>
          <a:xfrm>
            <a:off x="838200" y="-47812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CA21CC-9B81-2CEC-CE37-F46FBCF61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895" y="1551100"/>
            <a:ext cx="7604209" cy="500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4807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384C0-4220-C7F7-0937-4DE6ECC11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C38ADD-22BC-50A7-4848-DDBB8887788C}"/>
              </a:ext>
            </a:extLst>
          </p:cNvPr>
          <p:cNvSpPr txBox="1"/>
          <p:nvPr/>
        </p:nvSpPr>
        <p:spPr>
          <a:xfrm>
            <a:off x="4046880" y="1011964"/>
            <a:ext cx="4098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редактор данных (менеджера)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B98DADC9-6F85-B1D9-4678-79DDC8F30EBA}"/>
              </a:ext>
            </a:extLst>
          </p:cNvPr>
          <p:cNvSpPr txBox="1">
            <a:spLocks/>
          </p:cNvSpPr>
          <p:nvPr/>
        </p:nvSpPr>
        <p:spPr>
          <a:xfrm>
            <a:off x="838200" y="-47812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06305F-C338-85B8-0EB9-45AD0057D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390" y="1551100"/>
            <a:ext cx="7627219" cy="4973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4006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5E87-64C0-94E3-6F2B-3F979995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D221E17-E113-B8D9-A821-CDF9DEDCBF85}"/>
              </a:ext>
            </a:extLst>
          </p:cNvPr>
          <p:cNvSpPr txBox="1">
            <a:spLocks/>
          </p:cNvSpPr>
          <p:nvPr/>
        </p:nvSpPr>
        <p:spPr>
          <a:xfrm>
            <a:off x="838200" y="-47812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582840-A10C-334E-790A-2FEB79F93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642" y="3964018"/>
            <a:ext cx="3652990" cy="17520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3992500-48E7-91F7-FFED-00AA85BB7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505" y="1931484"/>
            <a:ext cx="3652990" cy="13353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1BF0405-751C-F1BB-0FB1-8BD5A3835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68" y="3964019"/>
            <a:ext cx="3652990" cy="17520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F8BC78E-66C0-E69A-677D-7379228B02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5642" y="1931484"/>
            <a:ext cx="3652990" cy="13353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856745C-D869-3B02-BE49-691E459ED8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9505" y="3964018"/>
            <a:ext cx="3652990" cy="17520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DEE60AE-114A-07A7-4064-308561F6D9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68" y="1931484"/>
            <a:ext cx="3652990" cy="13353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55D3D4-DC68-D741-F989-409B47E91D9B}"/>
              </a:ext>
            </a:extLst>
          </p:cNvPr>
          <p:cNvSpPr txBox="1"/>
          <p:nvPr/>
        </p:nvSpPr>
        <p:spPr>
          <a:xfrm>
            <a:off x="4379311" y="767237"/>
            <a:ext cx="3433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Окна редактирования данных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0486C6-2C49-CE30-BD97-E587C2497C8A}"/>
              </a:ext>
            </a:extLst>
          </p:cNvPr>
          <p:cNvSpPr txBox="1"/>
          <p:nvPr/>
        </p:nvSpPr>
        <p:spPr>
          <a:xfrm>
            <a:off x="805849" y="1471696"/>
            <a:ext cx="262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тарифов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F051CC-C192-5B5D-C9D8-4F9B10F52DAC}"/>
              </a:ext>
            </a:extLst>
          </p:cNvPr>
          <p:cNvSpPr txBox="1"/>
          <p:nvPr/>
        </p:nvSpPr>
        <p:spPr>
          <a:xfrm>
            <a:off x="4781986" y="1469695"/>
            <a:ext cx="2708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клиентов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904FC2-54EC-24C6-5854-A162D108262E}"/>
              </a:ext>
            </a:extLst>
          </p:cNvPr>
          <p:cNvSpPr txBox="1"/>
          <p:nvPr/>
        </p:nvSpPr>
        <p:spPr>
          <a:xfrm>
            <a:off x="8773127" y="1469695"/>
            <a:ext cx="2598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салонов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ABDDB7-7829-AA3E-0F08-67CEE9924D10}"/>
              </a:ext>
            </a:extLst>
          </p:cNvPr>
          <p:cNvSpPr txBox="1"/>
          <p:nvPr/>
        </p:nvSpPr>
        <p:spPr>
          <a:xfrm>
            <a:off x="604799" y="3491470"/>
            <a:ext cx="3030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сотрудников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A414DB-2471-7470-B31F-074E53FDFD11}"/>
              </a:ext>
            </a:extLst>
          </p:cNvPr>
          <p:cNvSpPr txBox="1"/>
          <p:nvPr/>
        </p:nvSpPr>
        <p:spPr>
          <a:xfrm>
            <a:off x="4810455" y="3491470"/>
            <a:ext cx="2571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товаров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CF7415-E3BC-C402-D9E2-761CE3FEC8C2}"/>
              </a:ext>
            </a:extLst>
          </p:cNvPr>
          <p:cNvSpPr txBox="1"/>
          <p:nvPr/>
        </p:nvSpPr>
        <p:spPr>
          <a:xfrm>
            <a:off x="8557074" y="3493876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авторизации</a:t>
            </a:r>
          </a:p>
        </p:txBody>
      </p:sp>
    </p:spTree>
    <p:extLst>
      <p:ext uri="{BB962C8B-B14F-4D97-AF65-F5344CB8AC3E}">
        <p14:creationId xmlns:p14="http://schemas.microsoft.com/office/powerpoint/2010/main" val="2817405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1F1D-4D0B-2613-101C-81D73139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CFEC4103-F71F-F59A-CA03-8D69BEF2F620}"/>
              </a:ext>
            </a:extLst>
          </p:cNvPr>
          <p:cNvSpPr txBox="1">
            <a:spLocks/>
          </p:cNvSpPr>
          <p:nvPr/>
        </p:nvSpPr>
        <p:spPr>
          <a:xfrm>
            <a:off x="838200" y="-47812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F59FB0E-73E9-202E-4C1C-0ADC48CC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62" y="2003840"/>
            <a:ext cx="4882057" cy="15382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996E209-70AB-340D-2F5B-F63ABFE5D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845" y="1836447"/>
            <a:ext cx="3576955" cy="4156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E6B130B-1643-0C94-7F8D-B614DB5D6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896" y="4425389"/>
            <a:ext cx="4877223" cy="14326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63B8132-664B-517A-50AF-0BB85C51991F}"/>
              </a:ext>
            </a:extLst>
          </p:cNvPr>
          <p:cNvSpPr txBox="1"/>
          <p:nvPr/>
        </p:nvSpPr>
        <p:spPr>
          <a:xfrm>
            <a:off x="968062" y="1571564"/>
            <a:ext cx="2137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Добавления продаж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BAE86E-6D96-000A-1BF0-D7EFB01CF73F}"/>
              </a:ext>
            </a:extLst>
          </p:cNvPr>
          <p:cNvSpPr txBox="1"/>
          <p:nvPr/>
        </p:nvSpPr>
        <p:spPr>
          <a:xfrm>
            <a:off x="968062" y="4010734"/>
            <a:ext cx="2905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Редактирования контрактов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3CCDBF-D651-A059-412C-463F62E0E95C}"/>
              </a:ext>
            </a:extLst>
          </p:cNvPr>
          <p:cNvSpPr txBox="1"/>
          <p:nvPr/>
        </p:nvSpPr>
        <p:spPr>
          <a:xfrm>
            <a:off x="7776845" y="1433810"/>
            <a:ext cx="2686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сотрудников</a:t>
            </a:r>
          </a:p>
        </p:txBody>
      </p:sp>
    </p:spTree>
    <p:extLst>
      <p:ext uri="{BB962C8B-B14F-4D97-AF65-F5344CB8AC3E}">
        <p14:creationId xmlns:p14="http://schemas.microsoft.com/office/powerpoint/2010/main" val="1387775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8928-0EDC-7E17-0805-44F28F59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3E846-568C-0383-95B8-EEE92B95CA1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7310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 разработки ИС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D281E-63BB-2989-D959-68CB7719B3D1}"/>
              </a:ext>
            </a:extLst>
          </p:cNvPr>
          <p:cNvSpPr txBox="1"/>
          <p:nvPr/>
        </p:nvSpPr>
        <p:spPr>
          <a:xfrm>
            <a:off x="1236240" y="2031021"/>
            <a:ext cx="11028556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Платформа: 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6 / .NET Framework (Windows Forms)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контроля версий: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использованием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GitHub/GitLab)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Studio, SSMS,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ERwin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draw.io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59195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36222-8EFE-A8DB-C09F-2082A5D430B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7310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92808-F366-579F-4486-6678136A8BF3}"/>
              </a:ext>
            </a:extLst>
          </p:cNvPr>
          <p:cNvSpPr txBox="1"/>
          <p:nvPr/>
        </p:nvSpPr>
        <p:spPr>
          <a:xfrm>
            <a:off x="581722" y="1519489"/>
            <a:ext cx="11028556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ходе дипломного проекта разработана информационная система для автоматизации отдела продаж салонов сотовой связи. Проект охватил полный цикл: от анализа бизнес-процессов и формулировки требований до проектирования (ER-, IDEF0-, DFD-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Case-диаграммы), реализации на C# / Windows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тестирования.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Система включает управление клиентами, товарами, тарифами, продажами и контрактами, а также реализовано ролевое разграничение доступа (Менеджер, Старший менеджер, Администратор) и аналитический модуль для администратора.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Результатом проекта является – готовый программный продукт, повышающий эффективность работы, снижающий ошибки и упрощающий принятие решений на основе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25249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C68C8-7CDE-8E1D-F69F-0FFD903B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A9892-E78D-23CB-BF55-E12649476FBC}"/>
              </a:ext>
            </a:extLst>
          </p:cNvPr>
          <p:cNvSpPr txBox="1">
            <a:spLocks/>
          </p:cNvSpPr>
          <p:nvPr/>
        </p:nvSpPr>
        <p:spPr>
          <a:xfrm>
            <a:off x="670931" y="2755900"/>
            <a:ext cx="10515600" cy="67310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537467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</TotalTime>
  <Words>541</Words>
  <Application>Microsoft Office PowerPoint</Application>
  <PresentationFormat>Широкоэкранный</PresentationFormat>
  <Paragraphs>60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Akulin</dc:creator>
  <cp:lastModifiedBy>Andrei Akulin</cp:lastModifiedBy>
  <cp:revision>5</cp:revision>
  <dcterms:created xsi:type="dcterms:W3CDTF">2026-03-23T16:50:54Z</dcterms:created>
  <dcterms:modified xsi:type="dcterms:W3CDTF">2026-05-15T02:05:44Z</dcterms:modified>
</cp:coreProperties>
</file>